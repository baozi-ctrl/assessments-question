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7" r:id="rId8"/>
    <p:sldId id="261" r:id="rId9"/>
    <p:sldId id="262" r:id="rId10"/>
    <p:sldId id="263" r:id="rId11"/>
    <p:sldId id="264" r:id="rId12"/>
    <p:sldId id="265" r:id="rId13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148840"/>
            <a:ext cx="9994392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4400" b="1" i="0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Attention 加速器 RTL IP 原型</a:t>
            </a:r>
            <a:endParaRPr sz="4400" b="1" i="0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97280" y="3520440"/>
            <a:ext cx="9994392" cy="3073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数字组 固定规模 S=8, d=4 · 纯整数定点实现</a:t>
            </a:r>
            <a:endParaRPr sz="2000" b="0" i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97280" y="5120640"/>
            <a:ext cx="9994392" cy="5949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1600" b="0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答辩人：</a:t>
            </a:r>
            <a:r>
              <a:rPr lang="zh-CN" sz="1600" b="0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陈科言</a:t>
            </a:r>
            <a:endParaRPr sz="1600" b="0" i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spcAft>
                <a:spcPts val="0"/>
              </a:spcAft>
            </a:pPr>
            <a:r>
              <a:rPr lang="en-US" sz="1600" b="0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</a:t>
            </a:r>
            <a:r>
              <a:rPr sz="1600" b="0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</a:t>
            </a:r>
            <a:r>
              <a:rPr lang="en-US" sz="1600" b="0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10</a:t>
            </a:r>
            <a:r>
              <a:rPr sz="1600" b="0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月</a:t>
            </a:r>
            <a:r>
              <a:rPr lang="en-US" sz="1600" b="0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12</a:t>
            </a:r>
            <a:r>
              <a:rPr sz="1600" b="0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</a:t>
            </a:r>
            <a:endParaRPr sz="1600" b="0" i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2920" rIns="365760" rtlCol="0" anchor="ctr"/>
          <a:lstStyle/>
          <a:p>
            <a:pPr algn="ctr"/>
            <a:r>
              <a:rPr sz="28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任务与目标</a:t>
            </a:r>
            <a:endParaRPr sz="28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972800" cy="30568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 </a:t>
            </a:r>
            <a:r>
              <a:rPr sz="1800" b="0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输入：Q[1,4]、K[8,4]、V[8,4]，均为 8-bit 有符号整数</a:t>
            </a:r>
            <a:endParaRPr sz="1800" b="0" i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 </a:t>
            </a:r>
            <a:r>
              <a:rPr sz="1800" b="0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输出：O[1,4]，8-bit 有符号整数（round 后）</a:t>
            </a:r>
            <a:endParaRPr sz="1800" b="0" i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 </a:t>
            </a:r>
            <a:r>
              <a:rPr sz="1800" b="1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计算流程（5 步）：</a:t>
            </a:r>
            <a:endParaRPr sz="1800" b="1" i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2E74B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–  </a:t>
            </a:r>
            <a:r>
              <a:rPr sz="1800" b="0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score = Q·K：8 个点积（组合逻辑 dot_tok）</a:t>
            </a:r>
            <a:endParaRPr sz="1800" b="0" i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2E74B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–  </a:t>
            </a:r>
            <a:r>
              <a:rPr sz="1800" b="0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x_max = max(score)：找最大值</a:t>
            </a:r>
            <a:endParaRPr sz="1800" b="0" i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2E74B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–  </a:t>
            </a:r>
            <a:r>
              <a:rPr sz="1800" b="0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weight = exp(score − x_max)：指数查找表 LUT</a:t>
            </a:r>
            <a:endParaRPr sz="1800" b="0" i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2E74B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–  </a:t>
            </a:r>
            <a:r>
              <a:rPr sz="1800" b="0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 = Σweight；ACC = Σ(weight·V)：定点累加</a:t>
            </a:r>
            <a:endParaRPr sz="1800" b="0" i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2E74B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–  </a:t>
            </a:r>
            <a:r>
              <a:rPr sz="1800" b="0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 = round(ACC / L)：除法归一化</a:t>
            </a:r>
            <a:endParaRPr sz="1800" b="0" i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 </a:t>
            </a:r>
            <a:r>
              <a:rPr sz="1800" b="0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交付：RTL 源码 + Testbench + 仿真脚本 + 设计报告 + </a:t>
            </a:r>
            <a:r>
              <a:rPr lang="en-US" sz="1800" b="0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ppt</a:t>
            </a:r>
            <a:endParaRPr lang="en-US" sz="1800" b="0" i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2920" rIns="365760" rtlCol="0" anchor="ctr"/>
          <a:lstStyle/>
          <a:p>
            <a:pPr algn="ctr"/>
            <a:r>
              <a:rPr sz="28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设计难点</a:t>
            </a:r>
            <a:endParaRPr sz="28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1846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 i="0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 </a:t>
            </a:r>
            <a:r>
              <a:rPr sz="2000" b="0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exp 是超越函数，硬件不能直接算  →  指数查找表 LUT</a:t>
            </a:r>
            <a:endParaRPr sz="2000" b="0" i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800"/>
              </a:spcAft>
            </a:pPr>
            <a:r>
              <a:rPr sz="2000" b="0" i="0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 </a:t>
            </a:r>
            <a:r>
              <a:rPr sz="2000" b="0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exp 直接算会溢出  →  先减 x_max（数值稳定，考核要求的结构）</a:t>
            </a:r>
            <a:endParaRPr sz="2000" b="0" i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800"/>
              </a:spcAft>
            </a:pPr>
            <a:r>
              <a:rPr sz="2000" b="0" i="0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 </a:t>
            </a:r>
            <a:r>
              <a:rPr sz="2000" b="0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权重是小数，硬件没有浮点单元  →  定点整数 weight = exp(·)×16，</a:t>
            </a:r>
            <a:r>
              <a:rPr lang="zh-CN" sz="2000" b="0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到最后算</a:t>
            </a:r>
            <a:r>
              <a:rPr lang="en-US" altLang="zh-CN" sz="2000" b="0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</a:t>
            </a:r>
            <a:r>
              <a:rPr lang="zh-CN" altLang="en-US" sz="2000" b="0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</a:t>
            </a:r>
            <a:r>
              <a:rPr sz="2000" b="0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除法</a:t>
            </a:r>
            <a:r>
              <a:rPr lang="zh-CN" sz="2000" b="0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能抵消之前乘的</a:t>
            </a:r>
            <a:r>
              <a:rPr lang="en-US" altLang="zh-CN" sz="2000" b="0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16</a:t>
            </a:r>
            <a:r>
              <a:rPr sz="2000" b="0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相消</a:t>
            </a:r>
            <a:endParaRPr sz="2000" b="0" i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800"/>
              </a:spcAft>
            </a:pPr>
            <a:r>
              <a:rPr sz="2000" b="0" i="0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 </a:t>
            </a:r>
            <a:r>
              <a:rPr sz="2000" b="0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除法没有现成器件  →  反复减法实现 round(ACC / L)</a:t>
            </a:r>
            <a:endParaRPr sz="2000" b="0" i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2920" rIns="365760" rtlCol="0" anchor="ctr"/>
          <a:lstStyle/>
          <a:p>
            <a:pPr algn="ctr"/>
            <a:r>
              <a:rPr sz="28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算法与定点化</a:t>
            </a:r>
            <a:endParaRPr sz="28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972800" cy="274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 </a:t>
            </a:r>
            <a:r>
              <a:rPr sz="1800" b="0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定点公式：W = round(exp(−m)·16)，m = x_max − score ≥ 0</a:t>
            </a:r>
            <a:endParaRPr sz="1800" b="0" i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 </a:t>
            </a:r>
            <a:r>
              <a:rPr sz="1800" b="0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输出：O = round( Σ(W·V) / ΣW )，×16 在分子分母中相消，结果与浮点一致</a:t>
            </a:r>
            <a:endParaRPr sz="1800" b="0" i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 </a:t>
            </a:r>
            <a:r>
              <a:rPr sz="1800" b="0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指数查找表 LUT（只存 4 个非零项）：</a:t>
            </a:r>
            <a:endParaRPr sz="1800" b="0" i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2440304"/>
          <a:ext cx="6217920" cy="7315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737360"/>
                <a:gridCol w="822960"/>
                <a:gridCol w="822960"/>
                <a:gridCol w="822960"/>
                <a:gridCol w="822960"/>
                <a:gridCol w="1188720"/>
              </a:tblGrid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</a:t>
                      </a:r>
                      <a:endParaRPr sz="130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</a:t>
                      </a:r>
                      <a:endParaRPr sz="130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</a:t>
                      </a:r>
                      <a:endParaRPr sz="130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</a:t>
                      </a:r>
                      <a:endParaRPr sz="130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</a:t>
                      </a:r>
                      <a:endParaRPr sz="130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≥4</a:t>
                      </a:r>
                      <a:endParaRPr sz="130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weight(W)</a:t>
                      </a:r>
                      <a:endParaRPr sz="130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16</a:t>
                      </a:r>
                      <a:endParaRPr sz="130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</a:t>
                      </a:r>
                      <a:endParaRPr sz="130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</a:t>
                      </a:r>
                      <a:endParaRPr sz="130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</a:t>
                      </a:r>
                      <a:endParaRPr sz="130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</a:t>
                      </a:r>
                      <a:endParaRPr sz="130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333756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 </a:t>
            </a:r>
            <a:r>
              <a:rPr sz="1800" b="0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位宽（中间放宽、出口钳位）：score 20 / x_max 20 / weight 8 / L 16 / acc 28 / o_buf 8</a:t>
            </a:r>
            <a:endParaRPr sz="1800" b="0" i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2920" rIns="365760" rtlCol="0" anchor="ctr"/>
          <a:lstStyle/>
          <a:p>
            <a:pPr algn="ctr"/>
            <a:r>
              <a:rPr sz="28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顶层架构</a:t>
            </a:r>
            <a:endParaRPr sz="28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972800" cy="502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0" i="0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 </a:t>
            </a:r>
            <a:r>
              <a:rPr sz="1900" b="0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接口时序：q_valid×4 → kv_valid×32 → 计算 → out_valid×4 + done</a:t>
            </a:r>
            <a:endParaRPr sz="1900" b="0" i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800"/>
              </a:spcAft>
            </a:pPr>
            <a:r>
              <a:rPr sz="1900" b="0" i="0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 </a:t>
            </a:r>
            <a:r>
              <a:rPr sz="1900" b="0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输入握手：start 启动；q_valid / kv_valid 送数据；data_ready 表示可接收</a:t>
            </a:r>
            <a:endParaRPr sz="1900" b="0" i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800"/>
              </a:spcAft>
            </a:pPr>
            <a:r>
              <a:rPr sz="1900" b="0" i="0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 </a:t>
            </a:r>
            <a:r>
              <a:rPr sz="1900" b="0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存储：q_buf、k_buf、v_buf、score、weight、acc、o_buf</a:t>
            </a:r>
            <a:endParaRPr sz="1900" b="0" i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800"/>
              </a:spcAft>
            </a:pPr>
            <a:r>
              <a:rPr sz="1900" b="0" i="0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 </a:t>
            </a:r>
            <a:r>
              <a:rPr sz="1900" b="0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点积 dot_tok：组合逻辑一个周期算完 4 维乘加（$signed() 就地解释）</a:t>
            </a:r>
            <a:endParaRPr sz="1900" b="0" i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2920" rIns="365760" rtlCol="0" anchor="ctr"/>
          <a:lstStyle/>
          <a:p>
            <a:pPr algn="ctr"/>
            <a:r>
              <a:rPr lang="zh-CN" sz="28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位宽</a:t>
            </a:r>
            <a:r>
              <a:rPr lang="zh-CN" sz="28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设计</a:t>
            </a:r>
            <a:endParaRPr lang="zh-CN" sz="28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6" name="表格 5"/>
          <p:cNvGraphicFramePr/>
          <p:nvPr/>
        </p:nvGraphicFramePr>
        <p:xfrm>
          <a:off x="427990" y="1275715"/>
          <a:ext cx="11149965" cy="5171440"/>
        </p:xfrm>
        <a:graphic>
          <a:graphicData uri="http://schemas.openxmlformats.org/drawingml/2006/table">
            <a:tbl>
              <a:tblPr/>
              <a:tblGrid>
                <a:gridCol w="3716655"/>
                <a:gridCol w="3716655"/>
                <a:gridCol w="3716655"/>
              </a:tblGrid>
              <a:tr h="646430">
                <a:tc>
                  <a:txBody>
                    <a:bodyPr/>
                    <a:p>
                      <a:pPr algn="ctr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信号</a:t>
                      </a:r>
                      <a:endParaRPr lang="zh-CN" sz="16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位宽</a:t>
                      </a:r>
                      <a:endParaRPr lang="zh-CN" sz="16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范围</a:t>
                      </a:r>
                      <a:r>
                        <a:rPr lang="zh-CN" altLang="en-US" sz="16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 </a:t>
                      </a:r>
                      <a:r>
                        <a:rPr lang="en-US" altLang="zh-CN" sz="16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/ </a:t>
                      </a:r>
                      <a:r>
                        <a:rPr lang="zh-CN" altLang="en-US" sz="16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说明</a:t>
                      </a:r>
                      <a:endParaRPr lang="zh-CN" altLang="en-US" sz="16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46430">
                <a:tc>
                  <a:txBody>
                    <a:bodyPr/>
                    <a:p>
                      <a:pPr algn="ctr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latin typeface="微软雅黑" panose="020B0503020204020204" charset="-122"/>
                          <a:ea typeface="微软雅黑" panose="020B0503020204020204" charset="-122"/>
                        </a:rPr>
                        <a:t>Q/K/V</a:t>
                      </a:r>
                      <a:endParaRPr lang="en-US" altLang="zh-CN" sz="16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latin typeface="微软雅黑" panose="020B0503020204020204" charset="-122"/>
                          <a:ea typeface="微软雅黑" panose="020B0503020204020204" charset="-122"/>
                        </a:rPr>
                        <a:t>8</a:t>
                      </a:r>
                      <a:endParaRPr lang="en-US" altLang="zh-CN" sz="16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>
                          <a:latin typeface="微软雅黑" panose="020B0503020204020204" charset="-122"/>
                          <a:ea typeface="微软雅黑" panose="020B0503020204020204" charset="-122"/>
                        </a:rPr>
                        <a:t>有符号，</a:t>
                      </a:r>
                      <a:r>
                        <a:rPr lang="en-US" altLang="zh-CN" sz="1600">
                          <a:latin typeface="微软雅黑" panose="020B0503020204020204" charset="-122"/>
                          <a:ea typeface="微软雅黑" panose="020B0503020204020204" charset="-122"/>
                        </a:rPr>
                        <a:t>[-128,127]</a:t>
                      </a:r>
                      <a:endParaRPr lang="en-US" altLang="zh-CN" sz="16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46430">
                <a:tc>
                  <a:txBody>
                    <a:bodyPr/>
                    <a:p>
                      <a:pPr algn="ctr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latin typeface="微软雅黑" panose="020B0503020204020204" charset="-122"/>
                          <a:ea typeface="微软雅黑" panose="020B0503020204020204" charset="-122"/>
                        </a:rPr>
                        <a:t>score</a:t>
                      </a:r>
                      <a:endParaRPr lang="en-US" altLang="zh-CN" sz="16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</a:rPr>
                        <a:t>20（8+8+2+余2）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latin typeface="微软雅黑" panose="020B0503020204020204" charset="-122"/>
                          <a:ea typeface="微软雅黑" panose="020B0503020204020204" charset="-122"/>
                        </a:rPr>
                        <a:t>4×</a:t>
                      </a: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</a:rPr>
                        <a:t>（</a:t>
                      </a:r>
                      <a:r>
                        <a:rPr lang="en-US" altLang="zh-CN" sz="1600">
                          <a:latin typeface="微软雅黑" panose="020B0503020204020204" charset="-122"/>
                          <a:ea typeface="微软雅黑" panose="020B0503020204020204" charset="-122"/>
                        </a:rPr>
                        <a:t>8×8 </a:t>
                      </a: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</a:rPr>
                        <a:t>乘积之和），</a:t>
                      </a:r>
                      <a:r>
                        <a:rPr lang="en-US" altLang="zh-CN" sz="1600">
                          <a:latin typeface="微软雅黑" panose="020B0503020204020204" charset="-122"/>
                          <a:ea typeface="微软雅黑" panose="020B0503020204020204" charset="-122"/>
                        </a:rPr>
                        <a:t>max</a:t>
                      </a:r>
                      <a:endParaRPr lang="en-US" altLang="zh-CN" sz="16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46430">
                <a:tc>
                  <a:txBody>
                    <a:bodyPr/>
                    <a:p>
                      <a:pPr algn="ctr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latin typeface="微软雅黑" panose="020B0503020204020204" charset="-122"/>
                          <a:ea typeface="微软雅黑" panose="020B0503020204020204" charset="-122"/>
                        </a:rPr>
                        <a:t>x_max</a:t>
                      </a:r>
                      <a:endParaRPr lang="en-US" altLang="zh-CN" sz="16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latin typeface="微软雅黑" panose="020B0503020204020204" charset="-122"/>
                          <a:ea typeface="微软雅黑" panose="020B0503020204020204" charset="-122"/>
                        </a:rPr>
                        <a:t>20</a:t>
                      </a:r>
                      <a:endParaRPr lang="en-US" altLang="zh-CN" sz="16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>
                          <a:latin typeface="微软雅黑" panose="020B0503020204020204" charset="-122"/>
                          <a:ea typeface="微软雅黑" panose="020B0503020204020204" charset="-122"/>
                        </a:rPr>
                        <a:t>有符号</a:t>
                      </a:r>
                      <a:endParaRPr lang="zh-CN" sz="16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46430">
                <a:tc>
                  <a:txBody>
                    <a:bodyPr/>
                    <a:p>
                      <a:pPr algn="ctr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latin typeface="微软雅黑" panose="020B0503020204020204" charset="-122"/>
                          <a:ea typeface="微软雅黑" panose="020B0503020204020204" charset="-122"/>
                        </a:rPr>
                        <a:t>W(weight)</a:t>
                      </a:r>
                      <a:endParaRPr lang="en-US" altLang="zh-CN" sz="16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</a:rPr>
                        <a:t>8（16即5位无符号  5+余3）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>
                          <a:latin typeface="微软雅黑" panose="020B0503020204020204" charset="-122"/>
                          <a:ea typeface="微软雅黑" panose="020B0503020204020204" charset="-122"/>
                        </a:rPr>
                        <a:t>无符号，</a:t>
                      </a:r>
                      <a:r>
                        <a:rPr lang="en-US" altLang="zh-CN" sz="1600">
                          <a:latin typeface="微软雅黑" panose="020B0503020204020204" charset="-122"/>
                          <a:ea typeface="微软雅黑" panose="020B0503020204020204" charset="-122"/>
                        </a:rPr>
                        <a:t>≤ 16</a:t>
                      </a:r>
                      <a:endParaRPr lang="en-US" altLang="zh-CN" sz="16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46430">
                <a:tc>
                  <a:txBody>
                    <a:bodyPr/>
                    <a:p>
                      <a:pPr algn="ctr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latin typeface="微软雅黑" panose="020B0503020204020204" charset="-122"/>
                          <a:ea typeface="微软雅黑" panose="020B0503020204020204" charset="-122"/>
                        </a:rPr>
                        <a:t>L</a:t>
                      </a:r>
                      <a:endParaRPr lang="en-US" altLang="zh-CN" sz="16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latin typeface="微软雅黑" panose="020B0503020204020204" charset="-122"/>
                          <a:ea typeface="微软雅黑" panose="020B0503020204020204" charset="-122"/>
                        </a:rPr>
                        <a:t>16</a:t>
                      </a:r>
                      <a:r>
                        <a:rPr lang="zh-CN" sz="1600">
                          <a:latin typeface="微软雅黑" panose="020B0503020204020204" charset="-122"/>
                          <a:ea typeface="微软雅黑" panose="020B0503020204020204" charset="-122"/>
                        </a:rPr>
                        <a:t>（</a:t>
                      </a:r>
                      <a:r>
                        <a:rPr lang="en-US" altLang="zh-CN" sz="1600">
                          <a:latin typeface="微软雅黑" panose="020B0503020204020204" charset="-122"/>
                          <a:ea typeface="微软雅黑" panose="020B0503020204020204" charset="-122"/>
                        </a:rPr>
                        <a:t>5+3+</a:t>
                      </a: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</a:rPr>
                        <a:t>余</a:t>
                      </a:r>
                      <a:r>
                        <a:rPr lang="en-US" altLang="zh-CN" sz="1600">
                          <a:latin typeface="微软雅黑" panose="020B0503020204020204" charset="-122"/>
                          <a:ea typeface="微软雅黑" panose="020B0503020204020204" charset="-122"/>
                        </a:rPr>
                        <a:t>8</a:t>
                      </a: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</a:rPr>
                        <a:t>）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latin typeface="微软雅黑" panose="020B0503020204020204" charset="-122"/>
                          <a:ea typeface="微软雅黑" panose="020B0503020204020204" charset="-122"/>
                        </a:rPr>
                        <a:t>Σ W ≤ 8×16 = 128</a:t>
                      </a:r>
                      <a:endParaRPr lang="en-US" altLang="zh-CN" sz="16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46430">
                <a:tc>
                  <a:txBody>
                    <a:bodyPr/>
                    <a:p>
                      <a:pPr algn="ctr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latin typeface="微软雅黑" panose="020B0503020204020204" charset="-122"/>
                          <a:ea typeface="微软雅黑" panose="020B0503020204020204" charset="-122"/>
                        </a:rPr>
                        <a:t>ACC</a:t>
                      </a:r>
                      <a:endParaRPr lang="en-US" altLang="zh-CN" sz="16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</a:rPr>
                        <a:t>28（8+5+3+余12）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latin typeface="微软雅黑" panose="020B0503020204020204" charset="-122"/>
                          <a:ea typeface="微软雅黑" panose="020B0503020204020204" charset="-122"/>
                        </a:rPr>
                        <a:t>Σ W·V</a:t>
                      </a: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</a:rPr>
                        <a:t>，</a:t>
                      </a:r>
                      <a:r>
                        <a:rPr lang="en-US" altLang="zh-CN" sz="1600">
                          <a:latin typeface="微软雅黑" panose="020B0503020204020204" charset="-122"/>
                          <a:ea typeface="微软雅黑" panose="020B0503020204020204" charset="-122"/>
                        </a:rPr>
                        <a:t>max Σ</a:t>
                      </a:r>
                      <a:endParaRPr lang="en-US" altLang="zh-CN" sz="16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46430">
                <a:tc>
                  <a:txBody>
                    <a:bodyPr/>
                    <a:p>
                      <a:pPr algn="ctr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latin typeface="微软雅黑" panose="020B0503020204020204" charset="-122"/>
                          <a:ea typeface="微软雅黑" panose="020B0503020204020204" charset="-122"/>
                        </a:rPr>
                        <a:t>O</a:t>
                      </a:r>
                      <a:endParaRPr lang="en-US" altLang="zh-CN" sz="16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latin typeface="微软雅黑" panose="020B0503020204020204" charset="-122"/>
                          <a:ea typeface="微软雅黑" panose="020B0503020204020204" charset="-122"/>
                        </a:rPr>
                        <a:t>8</a:t>
                      </a:r>
                      <a:endParaRPr lang="en-US" altLang="zh-CN" sz="16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>
                          <a:latin typeface="微软雅黑" panose="020B0503020204020204" charset="-122"/>
                          <a:ea typeface="微软雅黑" panose="020B0503020204020204" charset="-122"/>
                        </a:rPr>
                        <a:t>有符号，钳位到</a:t>
                      </a: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</a:rPr>
                        <a:t> </a:t>
                      </a:r>
                      <a:r>
                        <a:rPr lang="en-US" altLang="zh-CN" sz="1600">
                          <a:latin typeface="微软雅黑" panose="020B0503020204020204" charset="-122"/>
                          <a:ea typeface="微软雅黑" panose="020B0503020204020204" charset="-122"/>
                        </a:rPr>
                        <a:t>[-128,127]</a:t>
                      </a:r>
                      <a:endParaRPr lang="en-US" altLang="zh-CN" sz="16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2920" rIns="365760" rtlCol="0" anchor="ctr"/>
          <a:lstStyle/>
          <a:p>
            <a:pPr algn="ctr"/>
            <a:r>
              <a:rPr sz="28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状态机（9 态 FSM）</a:t>
            </a:r>
            <a:endParaRPr sz="28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972800" cy="6565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 </a:t>
            </a:r>
            <a:r>
              <a:rPr sz="1800" b="0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 状态一拍推一步，计数器控制跳转，非阻塞赋值</a:t>
            </a:r>
            <a:endParaRPr sz="1800" b="0" i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800"/>
              </a:spcAft>
            </a:pPr>
            <a:endParaRPr sz="1800" b="0" i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2743200"/>
          <a:ext cx="11064240" cy="38404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194560"/>
                <a:gridCol w="7315200"/>
                <a:gridCol w="155448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状态</a:t>
                      </a:r>
                      <a:endParaRPr sz="130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动作</a:t>
                      </a:r>
                      <a:endParaRPr sz="130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拍数</a:t>
                      </a:r>
                      <a:endParaRPr sz="130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ST_IDLE</a:t>
                      </a:r>
                      <a:endParaRPr sz="130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空闲，等 start</a:t>
                      </a:r>
                      <a:endParaRPr sz="130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若干</a:t>
                      </a:r>
                      <a:endParaRPr sz="130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ST_LOADQ</a:t>
                      </a:r>
                      <a:endParaRPr sz="130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18288" marB="18288" anchor="ctr">
                    <a:solidFill>
                      <a:srgbClr val="E9EF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装 4 个 Q</a:t>
                      </a:r>
                      <a:endParaRPr sz="130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18288" marB="18288" anchor="ctr">
                    <a:solidFill>
                      <a:srgbClr val="E9EF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</a:t>
                      </a:r>
                      <a:endParaRPr sz="130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18288" marB="18288" anchor="ctr">
                    <a:solidFill>
                      <a:srgbClr val="E9EF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ST_LOADKV</a:t>
                      </a:r>
                      <a:endParaRPr sz="130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装 8×4 对 K/V</a:t>
                      </a:r>
                      <a:endParaRPr sz="130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32</a:t>
                      </a:r>
                      <a:endParaRPr sz="130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ST_SCORE</a:t>
                      </a:r>
                      <a:endParaRPr sz="130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18288" marB="18288" anchor="ctr">
                    <a:solidFill>
                      <a:srgbClr val="E9EF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8 个点积</a:t>
                      </a:r>
                      <a:endParaRPr sz="130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18288" marB="18288" anchor="ctr">
                    <a:solidFill>
                      <a:srgbClr val="E9EF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8</a:t>
                      </a:r>
                      <a:endParaRPr sz="130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18288" marB="18288" anchor="ctr">
                    <a:solidFill>
                      <a:srgbClr val="E9EF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ST_MAX</a:t>
                      </a:r>
                      <a:endParaRPr sz="130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找 x_max</a:t>
                      </a:r>
                      <a:endParaRPr sz="130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8</a:t>
                      </a:r>
                      <a:endParaRPr sz="130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ST_EXP</a:t>
                      </a:r>
                      <a:endParaRPr sz="130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18288" marB="18288" anchor="ctr">
                    <a:solidFill>
                      <a:srgbClr val="E9EF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查表得 weight</a:t>
                      </a:r>
                      <a:endParaRPr sz="130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18288" marB="18288" anchor="ctr">
                    <a:solidFill>
                      <a:srgbClr val="E9EF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8</a:t>
                      </a:r>
                      <a:endParaRPr sz="130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18288" marB="18288" anchor="ctr">
                    <a:solidFill>
                      <a:srgbClr val="E9EF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ST_ACC</a:t>
                      </a:r>
                      <a:endParaRPr sz="130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累加 L 和 ACC</a:t>
                      </a:r>
                      <a:endParaRPr sz="130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8</a:t>
                      </a:r>
                      <a:endParaRPr sz="130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ST_NORM</a:t>
                      </a:r>
                      <a:endParaRPr sz="130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18288" marB="18288" anchor="ctr">
                    <a:solidFill>
                      <a:srgbClr val="E9EF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除法归一化（反复减）</a:t>
                      </a:r>
                      <a:endParaRPr sz="130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18288" marB="18288" anchor="ctr">
                    <a:solidFill>
                      <a:srgbClr val="E9EF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变长</a:t>
                      </a:r>
                      <a:endParaRPr sz="130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18288" marB="18288" anchor="ctr">
                    <a:solidFill>
                      <a:srgbClr val="E9EF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ST_OUT</a:t>
                      </a:r>
                      <a:endParaRPr sz="130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吐 4 个结果</a:t>
                      </a:r>
                      <a:endParaRPr sz="130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</a:t>
                      </a:r>
                      <a:endParaRPr sz="130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2920" rIns="365760" rtlCol="0" anchor="ctr"/>
          <a:lstStyle/>
          <a:p>
            <a:pPr algn="ctr"/>
            <a:r>
              <a:rPr sz="28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验证方案（Golden Model 对比）</a:t>
            </a:r>
            <a:endParaRPr sz="28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97280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 </a:t>
            </a:r>
            <a:r>
              <a:rPr sz="1800" b="0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参考模型：Python Golden Model，与 RTL 同一 LUT、同一套定点规则</a:t>
            </a:r>
            <a:endParaRPr sz="1800" b="0" i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 </a:t>
            </a:r>
            <a:r>
              <a:rPr sz="1800" b="0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测试向量：44 组（sim/vectors.txt）= 4 定向 + 40 随机</a:t>
            </a:r>
            <a:endParaRPr sz="1800" b="0" i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3749039"/>
          <a:ext cx="11064240" cy="197510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377440"/>
                <a:gridCol w="1097280"/>
                <a:gridCol w="7589520"/>
              </a:tblGrid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类型</a:t>
                      </a:r>
                      <a:endParaRPr sz="130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数量</a:t>
                      </a:r>
                      <a:endParaRPr sz="130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目的</a:t>
                      </a:r>
                      <a:endParaRPr sz="130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全零输入</a:t>
                      </a:r>
                      <a:endParaRPr sz="130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</a:t>
                      </a:r>
                      <a:endParaRPr sz="130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边界：score=0 → x_max=0 → W 全 16 → O=0</a:t>
                      </a:r>
                      <a:endParaRPr sz="130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单突出 token</a:t>
                      </a:r>
                      <a:endParaRPr sz="130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18288" marB="18288" anchor="ctr">
                    <a:solidFill>
                      <a:srgbClr val="E9EF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</a:t>
                      </a:r>
                      <a:endParaRPr sz="130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18288" marB="18288" anchor="ctr">
                    <a:solidFill>
                      <a:srgbClr val="E9EF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检验 Softmax 只保留匹配项</a:t>
                      </a:r>
                      <a:endParaRPr sz="130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18288" marB="18288" anchor="ctr">
                    <a:solidFill>
                      <a:srgbClr val="E9EFF5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全同 K/V</a:t>
                      </a:r>
                      <a:endParaRPr sz="130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</a:t>
                      </a:r>
                      <a:endParaRPr sz="130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检验归一化后回落到该 V</a:t>
                      </a:r>
                      <a:endParaRPr sz="130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负大动态范围</a:t>
                      </a:r>
                      <a:endParaRPr sz="130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18288" marB="18288" anchor="ctr">
                    <a:solidFill>
                      <a:srgbClr val="E9EF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</a:t>
                      </a:r>
                      <a:endParaRPr sz="130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18288" marB="18288" anchor="ctr">
                    <a:solidFill>
                      <a:srgbClr val="E9EF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检验符号与钳位</a:t>
                      </a:r>
                      <a:endParaRPr sz="130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18288" marB="18288" anchor="ctr">
                    <a:solidFill>
                      <a:srgbClr val="E9EFF5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随机</a:t>
                      </a:r>
                      <a:endParaRPr sz="130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40</a:t>
                      </a:r>
                      <a:endParaRPr sz="130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全分布随机覆盖</a:t>
                      </a:r>
                      <a:endParaRPr sz="130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98932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 </a:t>
            </a:r>
            <a:r>
              <a:rPr sz="1700" b="0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自检 TB：读向量 → 按握手逐拍喂入 → 收集 4 输出 → 逐项比对 → 统计 PASS/FAIL</a:t>
            </a:r>
            <a:endParaRPr sz="1700" b="0" i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2920" rIns="365760" rtlCol="0" anchor="ctr"/>
          <a:lstStyle/>
          <a:p>
            <a:pPr algn="ctr"/>
            <a:r>
              <a:rPr sz="28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验证结果</a:t>
            </a:r>
            <a:endParaRPr sz="28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972800" cy="2651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0" i="0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 </a:t>
            </a:r>
            <a:r>
              <a:rPr sz="1900" b="0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44 组向量全部通过；176 项输出比对 → PASS = 176，FAIL = 0 → ALL PASS</a:t>
            </a:r>
            <a:endParaRPr sz="1900" b="0" i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800"/>
              </a:spcAft>
            </a:pPr>
            <a:r>
              <a:rPr sz="1900" b="0" i="0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 </a:t>
            </a:r>
            <a:r>
              <a:rPr sz="1900" b="0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性能：vector#0（start→done）= 83 周期；44 组平均 = 332 周期（除法为瓶颈）</a:t>
            </a:r>
            <a:endParaRPr sz="1900" b="0" i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800"/>
              </a:spcAft>
            </a:pPr>
            <a:r>
              <a:rPr sz="1900" b="0" i="0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 </a:t>
            </a:r>
            <a:r>
              <a:rPr sz="1900" b="0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波形：sim/attention_ip.vcd，GTKWave 查看 score / x_max / weight 的变化</a:t>
            </a:r>
            <a:endParaRPr sz="1900" b="0" i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rcRect t="9964" b="5220"/>
          <a:stretch>
            <a:fillRect/>
          </a:stretch>
        </p:blipFill>
        <p:spPr>
          <a:xfrm>
            <a:off x="0" y="2131695"/>
            <a:ext cx="6293485" cy="27940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925695"/>
            <a:ext cx="11150600" cy="193230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2920" rIns="365760" rtlCol="0" anchor="ctr"/>
          <a:lstStyle/>
          <a:p>
            <a:pPr algn="ctr"/>
            <a:r>
              <a:rPr sz="28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问题与解决</a:t>
            </a:r>
            <a:endParaRPr sz="28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972800" cy="9791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0" i="0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</a:t>
            </a:r>
            <a:r>
              <a:rPr lang="en-US" altLang="zh-CN" sz="1900" b="0" i="0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exp </a:t>
            </a:r>
            <a:r>
              <a:rPr lang="zh-CN" altLang="en-US" sz="1900" b="0" i="0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计算复杂，要算准确要用泰勒展开：不硬算，结果同时×</a:t>
            </a:r>
            <a:r>
              <a:rPr lang="en-US" altLang="zh-CN" sz="1900" b="0" i="0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16</a:t>
            </a:r>
            <a:r>
              <a:rPr lang="zh-CN" altLang="en-US" sz="1900" b="0" i="0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，使用查表，表格不需</a:t>
            </a:r>
            <a:r>
              <a:rPr lang="zh-CN" altLang="en-US" sz="1900" b="0" i="0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太大，最后的</a:t>
            </a:r>
            <a:r>
              <a:rPr lang="en-US" altLang="zh-CN" sz="1900" b="0" i="0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</a:t>
            </a:r>
            <a:r>
              <a:rPr lang="zh-CN" altLang="en-US" sz="1900" b="0" i="0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是个比例，最终</a:t>
            </a:r>
            <a:r>
              <a:rPr lang="en-US" altLang="zh-CN" sz="1900" b="0" i="0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16</a:t>
            </a:r>
            <a:r>
              <a:rPr lang="zh-CN" altLang="en-US" sz="1900" b="0" i="0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会被消，结果</a:t>
            </a:r>
            <a:r>
              <a:rPr lang="zh-CN" altLang="en-US" sz="1900" b="0" i="0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不会改变</a:t>
            </a:r>
            <a:endParaRPr lang="zh-CN" altLang="en-US" sz="1900" b="0" i="0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800"/>
              </a:spcAft>
            </a:pPr>
            <a:r>
              <a:rPr sz="1900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▪ </a:t>
            </a:r>
            <a:r>
              <a:rPr lang="zh-CN" altLang="en-US" sz="1900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除法没有器件 没有现成除法器：反复减法，且用 |</a:t>
            </a:r>
            <a:r>
              <a:rPr lang="en-US" altLang="zh-CN" sz="1900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ACC| + L/2 </a:t>
            </a:r>
            <a:r>
              <a:rPr lang="zh-CN" altLang="en-US" sz="1900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预加实现四舍五入</a:t>
            </a:r>
            <a:endParaRPr lang="en-US" altLang="zh-CN" sz="1900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2920" rIns="365760" rtlCol="0" anchor="ctr"/>
          <a:lstStyle/>
          <a:p>
            <a:pPr algn="ctr"/>
            <a:r>
              <a:rPr sz="28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总结与展望</a:t>
            </a:r>
            <a:endParaRPr sz="28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19488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100" b="0" i="0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 </a:t>
            </a:r>
            <a:r>
              <a:rPr sz="2100" b="1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成果：纯整数定点、零浮点的 Attention 加速单元</a:t>
            </a:r>
            <a:endParaRPr sz="2100" b="1" i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800"/>
              </a:spcAft>
            </a:pPr>
            <a:r>
              <a:rPr sz="1900" b="0" i="0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 </a:t>
            </a:r>
            <a:r>
              <a:rPr sz="1900" b="0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 状态 FSM 完整覆盖 5 步流程；x_max、exp(score−x_max) 显式实现（符合考核要求）</a:t>
            </a:r>
            <a:endParaRPr sz="1900" b="0" i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800"/>
              </a:spcAft>
            </a:pPr>
            <a:r>
              <a:rPr sz="1900" b="0" i="0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 </a:t>
            </a:r>
            <a:r>
              <a:rPr sz="1900" b="0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44 组向量 / 176 项输出全部通过（ALL PASS）</a:t>
            </a:r>
            <a:endParaRPr sz="1900" b="0" i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800"/>
              </a:spcAft>
            </a:pPr>
            <a:r>
              <a:rPr sz="1900" b="0" i="0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 </a:t>
            </a:r>
            <a:r>
              <a:rPr sz="1900" b="0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展望：流水线化 / 并行 LUT / 固定周期除法（试商法）/ 参数化 S、d</a:t>
            </a:r>
            <a:endParaRPr sz="1900" b="0" i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800"/>
              </a:spcAft>
            </a:pPr>
            <a:r>
              <a:rPr sz="2200" b="0" i="0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 </a:t>
            </a:r>
            <a:r>
              <a:rPr sz="2200" b="1" i="0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谢谢观看，恳请各位</a:t>
            </a:r>
            <a:r>
              <a:rPr lang="zh-CN" sz="2200" b="1" i="0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评委</a:t>
            </a:r>
            <a:r>
              <a:rPr sz="2200" b="1" i="0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批评指正！</a:t>
            </a:r>
            <a:endParaRPr sz="2200" b="1" i="0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2153</Words>
  <Application>WPS 演示</Application>
  <PresentationFormat>On-screen Show (4:3)</PresentationFormat>
  <Paragraphs>242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9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陈科言</cp:lastModifiedBy>
  <cp:revision>5</cp:revision>
  <dcterms:created xsi:type="dcterms:W3CDTF">2013-01-27T09:14:00Z</dcterms:created>
  <dcterms:modified xsi:type="dcterms:W3CDTF">2026-10-12T14:13:35Z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C3730A4A549C4B5B895386EEBD1F2AA5_13</vt:lpwstr>
  </property>
</Properties>
</file>